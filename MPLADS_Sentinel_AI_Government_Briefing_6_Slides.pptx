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520"/>
                </a:solidFill>
                <a:latin typeface="Aptos"/>
              </a:rPr>
              <a:t>MPLADS SENTINEL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96112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Turning project data into
actionable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33A"/>
                </a:solidFill>
                <a:latin typeface="Aptos"/>
              </a:rPr>
              <a:t>An executive briefing for ministry, state, district, and monitoring authorities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1546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3154680"/>
            <a:ext cx="73152" cy="2057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130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Project information is distributed across financial, progress, payment, and compliance records. Manual review makes it difficult to prioritize the cases that need attention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546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3154680"/>
            <a:ext cx="73152" cy="205740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3383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The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8130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A unified monitoring platform combines analytics and machine learning to surface unusual patterns, delays, cost pressure, and potential duplicate 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31546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3154680"/>
            <a:ext cx="73152" cy="2057400"/>
          </a:xfrm>
          <a:prstGeom prst="rect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3383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The safeguard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8130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Transparent scores support human review. They are not findings of fraud, and every high-risk case remains subject to authorized official investigation.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97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C78"/>
                </a:solidFill>
                <a:latin typeface="Aptos"/>
              </a:rPr>
              <a:t>Fictional demonstration platform for evaluation and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OPERATIONAL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33A"/>
                </a:solidFill>
                <a:latin typeface="Aptos"/>
              </a:rPr>
              <a:t>One dashboard for faster, more consistent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78"/>
                </a:solidFill>
                <a:latin typeface="Aptos"/>
              </a:rPr>
              <a:t>The platform turns multiple project signals into a shared monitoring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8577"/>
                </a:solidFill>
                <a:latin typeface="Aptos"/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demo projects monitored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AA520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520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high-risk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54F39"/>
                </a:solidFill>
                <a:latin typeface="Aptos"/>
              </a:rPr>
              <a:t>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3520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delayed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A233A"/>
                </a:solidFill>
                <a:latin typeface="Apto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520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anomalous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160520"/>
            <a:ext cx="10744200" cy="18288"/>
          </a:xfrm>
          <a:prstGeom prst="rect">
            <a:avLst/>
          </a:prstGeom>
          <a:solidFill>
            <a:srgbClr val="E0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4480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4480560"/>
            <a:ext cx="73152" cy="132588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38928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Isolation Forest and statistical checks identify unusual financial and project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480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4480560"/>
            <a:ext cx="73152" cy="132588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47091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5138928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Risk scores combine visible factors such as delay, cost overrun, progress, and payment behavior.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4480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4480560"/>
            <a:ext cx="73152" cy="1325880"/>
          </a:xfrm>
          <a:prstGeom prst="rect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3" y="470916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5138928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Reports, filters, and investigation queues help officials focus effort and record follow-up.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080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D6C78"/>
                </a:solidFill>
                <a:latin typeface="Aptos"/>
              </a:rPr>
              <a:t>Illustrative metrics from the included fictional demo dataset; they are not government statistics.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33A"/>
                </a:solidFill>
                <a:latin typeface="Aptos"/>
              </a:rPr>
              <a:t>A controlled path from pilot to institutional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78"/>
                </a:solidFill>
                <a:latin typeface="Aptos"/>
              </a:rPr>
              <a:t>Start with a governed pilot, validate the signals, and expand only after officials trust the workflow.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2331720"/>
            <a:ext cx="566928" cy="566928"/>
          </a:xfrm>
          <a:prstGeom prst="ellipse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93008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Connect approved project, expenditure, payment, and progress data sources.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7" y="2596896"/>
            <a:ext cx="1920240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7" y="2331720"/>
            <a:ext cx="566928" cy="566928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7" y="2487168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7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3493008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Run the analytics with a defined group of authorities and review false positives.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7" y="2596896"/>
            <a:ext cx="1920240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7648" y="2331720"/>
            <a:ext cx="566928" cy="566928"/>
          </a:xfrm>
          <a:prstGeom prst="ellipse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487168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493008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Set access controls, audit trails, review thresholds, and responsible-AI procedures.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3448" y="2596896"/>
            <a:ext cx="1920240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16567" y="2331720"/>
            <a:ext cx="566928" cy="566928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7" y="2487168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309067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3493008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Expand coverage after validation, training, and operational ownership are established.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074920"/>
            <a:ext cx="10744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5074920"/>
            <a:ext cx="73152" cy="82296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303520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Decision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33288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C78"/>
                </a:solidFill>
                <a:latin typeface="Aptos"/>
              </a:rPr>
              <a:t>Use the platform to prioritize review and improve transparency; never treat an automated score as proof of wrongdoing.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33A"/>
                </a:solidFill>
                <a:latin typeface="Aptos"/>
              </a:rPr>
              <a:t>From raw records to an accountable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78"/>
                </a:solidFill>
                <a:latin typeface="Aptos"/>
              </a:rPr>
              <a:t>Each stage creates a traceable handoff for officials and monitoring teams.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2377440"/>
            <a:ext cx="621792" cy="621792"/>
          </a:xfrm>
          <a:prstGeom prst="ellipse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7860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57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Approved project, finance, payment, and progress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2660904"/>
            <a:ext cx="1901952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7" y="2377440"/>
            <a:ext cx="621792" cy="621792"/>
          </a:xfrm>
          <a:prstGeom prst="ellipse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7" y="257860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7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3657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Rules and ML models surface unusual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660904"/>
            <a:ext cx="1901952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7648" y="2377440"/>
            <a:ext cx="621792" cy="621792"/>
          </a:xfrm>
          <a:prstGeom prst="ellipse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57860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657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Risk indicators help teams focus limited review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2660904"/>
            <a:ext cx="1901952" cy="36576"/>
          </a:xfrm>
          <a:prstGeom prst="rect">
            <a:avLst/>
          </a:prstGeom>
          <a:solidFill>
            <a:srgbClr val="B7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16567" y="2377440"/>
            <a:ext cx="621792" cy="621792"/>
          </a:xfrm>
          <a:prstGeom prst="ellipse">
            <a:avLst/>
          </a:prstGeom>
          <a:solidFill>
            <a:srgbClr val="C54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7" y="257860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33A"/>
                </a:solidFill>
                <a:latin typeface="Aptos"/>
              </a:rPr>
              <a:t>Resolve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365760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Officials investigate, document action, and close the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166360"/>
            <a:ext cx="10744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5166360"/>
            <a:ext cx="73152" cy="685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37667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33A"/>
                </a:solidFill>
                <a:latin typeface="Aptos"/>
              </a:rPr>
              <a:t>Human control remains central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88152"/>
            <a:ext cx="10287000" cy="-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The system recommends where to look; authorized officials decide what action is appropriate.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TECHNICAL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33A"/>
                </a:solidFill>
                <a:latin typeface="Aptos"/>
              </a:rPr>
              <a:t>Practical analytics built for explainable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78"/>
                </a:solidFill>
                <a:latin typeface="Aptos"/>
              </a:rPr>
              <a:t>The platform uses established tools that can be inspected, tested, and improved as data quality grows.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148840"/>
            <a:ext cx="34290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2148840"/>
            <a:ext cx="73152" cy="3154680"/>
          </a:xfrm>
          <a:prstGeom prst="rect">
            <a:avLst/>
          </a:prstGeom>
          <a:solidFill>
            <a:srgbClr val="0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591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33A"/>
                </a:solidFill>
                <a:latin typeface="Aptos"/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70632"/>
            <a:ext cx="297180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SQLite for local development with PostgreSQL support for scale.
Structured project, expenditure, payment, and compliance records feed the analysis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4290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48840"/>
            <a:ext cx="73152" cy="315468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3591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33A"/>
                </a:solidFill>
                <a:latin typeface="Aptos"/>
              </a:rPr>
              <a:t>Analytics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770632"/>
            <a:ext cx="297180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FastAPI services expose dashboards, reports, imports, and analysis operations.
React and TypeScript provide role-based views for repeated operational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148840"/>
            <a:ext cx="34290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2148840"/>
            <a:ext cx="73152" cy="315468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23591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33A"/>
                </a:solidFill>
                <a:latin typeface="Aptos"/>
              </a:rPr>
              <a:t>ML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770632"/>
            <a:ext cx="297180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Isolation Forest flags unusual records. TF-IDF and cosine similarity identify similar project descriptions.
Hybrid scoring makes contributing risk factors visible.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06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Designed for controlled pilot use, measurable validation, and gradual integration with approved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577"/>
                </a:solidFill>
                <a:latin typeface="Aptos"/>
              </a:rPr>
              <a:t>EXPECTED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33A"/>
                </a:solidFill>
                <a:latin typeface="Aptos"/>
              </a:rPr>
              <a:t>Better visibility, stronger review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C78"/>
                </a:solidFill>
                <a:latin typeface="Aptos"/>
              </a:rPr>
              <a:t>The first benefit is not automation of judgment; it is helping officials see the right information at the right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31720"/>
            <a:ext cx="3429000" cy="2011680"/>
          </a:xfrm>
          <a:prstGeom prst="roundRect">
            <a:avLst/>
          </a:prstGeom>
          <a:solidFill>
            <a:srgbClr val="15364E"/>
          </a:solidFill>
          <a:ln>
            <a:solidFill>
              <a:srgbClr val="2E5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AA520"/>
                </a:solidFill>
                <a:latin typeface="Aptos"/>
              </a:rPr>
              <a:t>For ministry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8211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National indicators and comparable views support oversight across states and districts.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31720"/>
            <a:ext cx="3429000" cy="2011680"/>
          </a:xfrm>
          <a:prstGeom prst="roundRect">
            <a:avLst/>
          </a:prstGeom>
          <a:solidFill>
            <a:srgbClr val="15364E"/>
          </a:solidFill>
          <a:ln>
            <a:solidFill>
              <a:srgbClr val="2E5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633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577"/>
                </a:solidFill>
                <a:latin typeface="Aptos"/>
              </a:rPr>
              <a:t>For field authorities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318211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Project-level context makes delays, cost pressure, and compliance gaps easier to act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2331720"/>
            <a:ext cx="3429000" cy="2011680"/>
          </a:xfrm>
          <a:prstGeom prst="roundRect">
            <a:avLst/>
          </a:prstGeom>
          <a:solidFill>
            <a:srgbClr val="15364E"/>
          </a:solidFill>
          <a:ln>
            <a:solidFill>
              <a:srgbClr val="2E5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26334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For citizens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3" y="318211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 clearer audit trail supports transparency, accountability, and responsible use of public funds.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92040"/>
            <a:ext cx="10744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4892040"/>
            <a:ext cx="73152" cy="86868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02352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33A"/>
                </a:solidFill>
                <a:latin typeface="Aptos"/>
              </a:rPr>
              <a:t>Recommended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13831"/>
            <a:ext cx="102870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C78"/>
                </a:solidFill>
                <a:latin typeface="Aptos"/>
              </a:rPr>
              <a:t>Run a governed pilot with representative data, define success measures, train reviewers, and publish a review protocol before scaling.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C78"/>
                </a:solidFill>
                <a:latin typeface="Aptos"/>
              </a:rPr>
              <a:t>MPLADS Sentinel AI  |  Government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D6C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